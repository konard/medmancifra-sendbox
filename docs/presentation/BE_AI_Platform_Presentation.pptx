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AI-Platform for Automating
Bioequivalence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651760"/>
            <a:ext cx="2743200" cy="4572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ONCOLOGY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2A5F5"/>
                </a:solidFill>
              </a:rPr>
              <a:t>Digital Health  |  AI-Architecture  |  Hackathon / Invest-Pitch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0E0E0"/>
                </a:solidFill>
              </a:rPr>
              <a:t>"We make doctors' lives more cloud-based and IT-friendly"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🚀  ☁️  🤖  💊  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0E0E0"/>
                </a:solidFill>
              </a:rPr>
              <a:t>konard / medmancifra  ·  medmancifra/sendbox  · 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Bioequivalence Problem in Oncology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80160"/>
            <a:ext cx="640080" cy="64008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High intra-subject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CV &gt;30% — requires RSABE approach instead of standard 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57400"/>
            <a:ext cx="640080" cy="64008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Long half-life drugs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t½ &gt; 24–72h — complex washout planning, accumulation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34640"/>
            <a:ext cx="640080" cy="64008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Multiple regulatory frameworks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EMA/FDA/EEC No.85 require different criteria — manual reconciliation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11880"/>
            <a:ext cx="640080" cy="64008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Fasting/Fed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Many onco drugs require two separate studies for food effects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389120"/>
            <a:ext cx="640080" cy="64008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Human factor in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Manual calculations → errors, inconsistencies, audit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12080"/>
            <a:ext cx="8595360" cy="64008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Result: 2–5 days of manual planning per study → errors, regulatory risks, delays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Regulatory-Aware AI Planning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80160"/>
            <a:ext cx="210312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🎯 Deterministic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21031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No LLM in math
Owen's method
ISO/GOST compliant
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280160"/>
            <a:ext cx="2103120" cy="73152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🤖 AI Explanation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011680"/>
            <a:ext cx="21031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GigaChat RAG
Natural language
explanations for
each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2103120" cy="73152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🏥 Onco-Specific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011680"/>
            <a:ext cx="21031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RSABE module
CYP interactions
High-variability
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80160"/>
            <a:ext cx="210312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📄 Synopsis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011680"/>
            <a:ext cx="21031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Auto-generated
Markdown/JSON
Regulatory-ready
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📥 INPUT
(CV, t½,
food effect)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565C0"/>
                </a:solidFill>
              </a:rPr>
              <a:t>➡️➡️➡️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023360"/>
            <a:ext cx="3108960" cy="10972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AI-Platform
(30-90 min automated)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565C0"/>
                </a:solidFill>
              </a:rPr>
              <a:t>➡️➡️➡️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D32"/>
                </a:solidFill>
              </a:rPr>
              <a:t>📤 OUTPUT
(Design + N +
Synopsis)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Platform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200400" cy="4114800"/>
          </a:xfrm>
          <a:prstGeom prst="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</a:rPr>
              <a:t>FRONTEND
(React + TypeScript)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7E"/>
                </a:solidFill>
              </a:rPr>
              <a:t>🖥️ Calculator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7E"/>
                </a:solidFill>
              </a:rPr>
              <a:t>📊 Results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7E"/>
                </a:solidFill>
              </a:rPr>
              <a:t>💬 AI Chat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7E"/>
                </a:solidFill>
              </a:rPr>
              <a:t>📄 Synopsis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7E"/>
                </a:solidFill>
              </a:rPr>
              <a:t>   (MD / 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0E0"/>
                </a:solidFill>
              </a:rPr>
              <a:t>⟺
HTTP
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4480560" cy="4114800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887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BACKEND
(Kotlin + Quarkus 3.8)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920240"/>
            <a:ext cx="4206240" cy="54864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Design+N Engine  —  DesignEngine.kt · SampleSizeEngine.kt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578608"/>
            <a:ext cx="4206240" cy="5486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RSABE Module  —  BECalculationService.kt (Owen's method)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236976"/>
            <a:ext cx="4206240" cy="54864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PK Intelligence  —  washout, accumulation, t½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895344"/>
            <a:ext cx="4206240" cy="54864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FFFFFF"/>
                </a:solidFill>
              </a:rPr>
              <a:t>Regulatory RAG  —  GigaChat + EEC No.85 / EMA / FDA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Decision flow: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94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CV_intra ≤30% → 2×2  |  &gt;30% → RSABE → replicate/parallel → washout → fasting/fed → N → Synopsis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212080"/>
            <a:ext cx="2011680" cy="502920"/>
          </a:xfrm>
          <a:prstGeom prst="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F6C00"/>
                </a:solidFill>
              </a:rPr>
              <a:t>🗄️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Example: High-Variability Oncology Drug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97B"/>
                </a:solidFill>
              </a:rPr>
              <a:t>📥 INPUT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CV_intra: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0E0"/>
                </a:solidFill>
              </a:rPr>
              <a:t>→ High variability (RSABE)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t½: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48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0E0"/>
                </a:solidFill>
              </a:rPr>
              <a:t>→ Long washout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Food Effect: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14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0E0"/>
                </a:solidFill>
              </a:rPr>
              <a:t>→ 2 studies: fasting + fed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12121"/>
                </a:solidFill>
              </a:rPr>
              <a:t>➡️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97280"/>
            <a:ext cx="384048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📤 PLATFORM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✅  Study Design: 4-period replicate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756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✅  Studies: 2 (fasting + fed)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597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✅  N randomized: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8437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✅  N screening: 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278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✅  Synopsis: auto-generated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⏱️ Time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Manual planning: 2–5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4023360"/>
            <a:ext cx="5669280" cy="32004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AI-Platform: 30–90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480560"/>
            <a:ext cx="2011680" cy="3200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29200"/>
            <a:ext cx="8595360" cy="64008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⚡  60–70% time savings  ·  Eliminate manual errors  ·  Regulatory-ready output in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Competitive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Solution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005840"/>
            <a:ext cx="2926080" cy="4572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005840"/>
            <a:ext cx="3291840" cy="4572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56032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Manual calculation
(Excel/SAS)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508760"/>
            <a:ext cx="292608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Human errors
Not regulatory-aware
2–5 days per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508760"/>
            <a:ext cx="329184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✅ Automated engine
✅ EMA/FDA compliant
✅ 30–90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60320"/>
            <a:ext cx="2560320" cy="1005840"/>
          </a:xfrm>
          <a:prstGeom prst="rect">
            <a:avLst/>
          </a:prstGeom>
          <a:solidFill>
            <a:srgbClr val="F1F3F4"/>
          </a:solidFill>
          <a:ln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Generic BE software
(WinNonlin, Phoenix)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560320"/>
            <a:ext cx="2926080" cy="1005840"/>
          </a:xfrm>
          <a:prstGeom prst="rect">
            <a:avLst/>
          </a:prstGeom>
          <a:solidFill>
            <a:srgbClr val="F1F3F4"/>
          </a:solidFill>
          <a:ln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No oncology logic
No regulatory AI
Expensive licenses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560320"/>
            <a:ext cx="3291840" cy="1005840"/>
          </a:xfrm>
          <a:prstGeom prst="rect">
            <a:avLst/>
          </a:prstGeom>
          <a:solidFill>
            <a:srgbClr val="F1F3F4"/>
          </a:solidFill>
          <a:ln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✅ Onco-specific RSABE
✅ Built-in RAG
✅ Cloud SaaS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11880"/>
            <a:ext cx="2560320" cy="1005840"/>
          </a:xfrm>
          <a:prstGeom prst="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CRO consulting
(manual expert work)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611880"/>
            <a:ext cx="2926080" cy="1005840"/>
          </a:xfrm>
          <a:prstGeom prst="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High cost per study
Non-reproducible
Slow turnaround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611880"/>
            <a:ext cx="3291840" cy="1005840"/>
          </a:xfrm>
          <a:prstGeom prst="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12121"/>
                </a:solidFill>
              </a:rPr>
              <a:t>✅ Deterministic core
✅ Reproducible results
✅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120640"/>
            <a:ext cx="8595360" cy="64008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We combine statistics + regulatory expertise + AI explanations in one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Investment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📊 BE is Standardized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743200" cy="1828800"/>
          </a:xfrm>
          <a:prstGeom prst="rect">
            <a:avLst/>
          </a:prstGeom>
          <a:solidFill>
            <a:srgbClr val="1E2A40"/>
          </a:solidFill>
          <a:ln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</a:rPr>
              <a:t>→ Algorithmic
Highly regulated domain
with deterministic rules
→ perfect for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🏥 Oncology is Complex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743200" cy="1828800"/>
          </a:xfrm>
          <a:prstGeom prst="rect">
            <a:avLst/>
          </a:prstGeom>
          <a:solidFill>
            <a:srgbClr val="1E2A40"/>
          </a:solidFill>
          <a:ln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</a:rPr>
              <a:t>→ High Automation Value
High-variability drugs
require expert-level logic
→ AI provides leverage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🚀 AI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1828800"/>
          </a:xfrm>
          <a:prstGeom prst="rect">
            <a:avLst/>
          </a:prstGeom>
          <a:solidFill>
            <a:srgbClr val="1E2A40"/>
          </a:solidFill>
          <a:ln>
            <a:solidFill>
              <a:srgbClr val="1E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FFFFFF"/>
                </a:solidFill>
              </a:rPr>
              <a:t>Not just a calculator
Full regulatory stack:
RAG + RSABE + PK +
Synopsis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💰 ROI / Time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Savings per study: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~88,000 RUB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30 studies/year: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~2.6M RUB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Implementation cost: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~3M RUB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Breakeven: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~12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5-year ROI: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400–600%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4048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E7D32"/>
                </a:solidFill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Russian BE Market —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4572000" cy="41148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CRO 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005840"/>
            <a:ext cx="3840480" cy="411480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Revenue/Year (RUB)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457200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Synergy Research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463040"/>
            <a:ext cx="384048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900–1,200M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20"/>
            <a:ext cx="457200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Medical Development Agency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874520"/>
            <a:ext cx="384048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290–380M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457200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iPharma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286000"/>
            <a:ext cx="384048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360–480M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97480"/>
            <a:ext cx="457200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CPD CRO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697480"/>
            <a:ext cx="384048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180–240M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57200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QBio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108960"/>
            <a:ext cx="384048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96–128M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457200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OCT CRO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520440"/>
            <a:ext cx="3840480" cy="384048"/>
          </a:xfrm>
          <a:prstGeom prst="rect">
            <a:avLst/>
          </a:prstGeom>
          <a:solidFill>
            <a:srgbClr val="E0F7F4"/>
          </a:solidFill>
          <a:ln>
            <a:solidFill>
              <a:srgbClr val="E0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165–220M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457200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12121"/>
                </a:solidFill>
              </a:rPr>
              <a:t>R&amp;D Pharma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931920"/>
            <a:ext cx="3840480" cy="384048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897B"/>
                </a:solidFill>
              </a:rPr>
              <a:t>72–96M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Cost per BE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Manual planning (expert CRO):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96,000 RUB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76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AI-Platform (automated):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8,000 RUB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24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Savings per study: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724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88,000 RUB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37E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280160" cy="12801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Clinical Pharmacologist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E0"/>
                </a:solidFill>
              </a:rPr>
              <a:t>BE study design, PK analysis,
regulatory submissions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1280160" cy="12801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E0"/>
                </a:solidFill>
              </a:rPr>
              <a:t>Kotlin/Quarkus, calculation
engines, REST APIs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1280160" cy="12801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E0"/>
                </a:solidFill>
              </a:rPr>
              <a:t>React/TypeScript, UX/UI,
calculator 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188720"/>
            <a:ext cx="1280160" cy="128016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AI/ML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0E0"/>
                </a:solidFill>
              </a:rPr>
              <a:t>GigaChat RAG, NLP,
explanation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6C00"/>
                </a:solidFill>
              </a:rPr>
              <a:t>🔗 Project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Repository: github.com/medmancifra/sendbox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892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Issue: github.com/medmancifra/sendbox/issues/5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PR / Demo: github.com/medmancifra/sendbox/pull/6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0E0E0"/>
                </a:solidFill>
              </a:rPr>
              <a:t>AI-Platform for BE Research (Oncology)  ·  2024  ·  Made with 💊 + 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